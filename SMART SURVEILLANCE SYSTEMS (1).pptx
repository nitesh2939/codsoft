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League Spartan" charset="1" panose="00000800000000000000"/>
      <p:regular r:id="rId16"/>
    </p:embeddedFont>
    <p:embeddedFont>
      <p:font typeface="Roboto Bold" charset="1" panose="02000000000000000000"/>
      <p:regular r:id="rId17"/>
    </p:embeddedFont>
    <p:embeddedFont>
      <p:font typeface="Poppins" charset="1" panose="00000500000000000000"/>
      <p:regular r:id="rId18"/>
    </p:embeddedFont>
    <p:embeddedFont>
      <p:font typeface="Roboto" charset="1" panose="02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09431" y="2152851"/>
            <a:ext cx="9846085" cy="58193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72"/>
              </a:lnSpc>
            </a:pPr>
            <a:r>
              <a:rPr lang="en-US" b="true" sz="8265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SMART SURVEILLANCE SYSTEMS</a:t>
            </a:r>
          </a:p>
          <a:p>
            <a:pPr algn="ctr">
              <a:lnSpc>
                <a:spcPts val="11572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-1130300" y="4057750"/>
            <a:ext cx="3086100" cy="2171499"/>
            <a:chOff x="0" y="0"/>
            <a:chExt cx="812800" cy="571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18438" y="6636823"/>
            <a:ext cx="16040862" cy="1005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24"/>
              </a:lnSpc>
            </a:pPr>
            <a:r>
              <a:rPr lang="en-US" b="true" sz="5303">
                <a:solidFill>
                  <a:srgbClr val="303642"/>
                </a:solidFill>
                <a:latin typeface="Roboto Bold"/>
                <a:ea typeface="Roboto Bold"/>
                <a:cs typeface="Roboto Bold"/>
                <a:sym typeface="Roboto Bold"/>
              </a:rPr>
              <a:t>AI POWERED INTELLIGENT SECURITY MONITORING</a:t>
            </a:r>
          </a:p>
          <a:p>
            <a:pPr algn="ctr">
              <a:lnSpc>
                <a:spcPts val="14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583777" y="8476377"/>
            <a:ext cx="5675523" cy="2347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7"/>
              </a:lnSpc>
              <a:spcBef>
                <a:spcPct val="0"/>
              </a:spcBef>
            </a:pPr>
          </a:p>
          <a:p>
            <a:pPr algn="ctr">
              <a:lnSpc>
                <a:spcPts val="3947"/>
              </a:lnSpc>
              <a:spcBef>
                <a:spcPct val="0"/>
              </a:spcBef>
            </a:pPr>
            <a:r>
              <a:rPr lang="en-US" sz="28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Nitesh Singh Bhati</a:t>
            </a:r>
          </a:p>
          <a:p>
            <a:pPr algn="ctr">
              <a:lnSpc>
                <a:spcPts val="3947"/>
              </a:lnSpc>
              <a:spcBef>
                <a:spcPct val="0"/>
              </a:spcBef>
            </a:pPr>
            <a:r>
              <a:rPr lang="en-US" sz="28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Course: BCA</a:t>
            </a:r>
          </a:p>
          <a:p>
            <a:pPr algn="ctr">
              <a:lnSpc>
                <a:spcPts val="3947"/>
              </a:lnSpc>
              <a:spcBef>
                <a:spcPct val="0"/>
              </a:spcBef>
            </a:pPr>
            <a:r>
              <a:rPr lang="en-US" sz="28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Roll No: 01514202023</a:t>
            </a:r>
          </a:p>
          <a:p>
            <a:pPr algn="ctr">
              <a:lnSpc>
                <a:spcPts val="3947"/>
              </a:lnSpc>
              <a:spcBef>
                <a:spcPct val="0"/>
              </a:spcBef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6467343" y="4057750"/>
            <a:ext cx="3086100" cy="2171499"/>
            <a:chOff x="0" y="0"/>
            <a:chExt cx="812800" cy="5719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2739433"/>
            <a:chOff x="0" y="0"/>
            <a:chExt cx="4816593" cy="72149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721497"/>
            </a:xfrm>
            <a:custGeom>
              <a:avLst/>
              <a:gdLst/>
              <a:ahLst/>
              <a:cxnLst/>
              <a:rect r="r" b="b" t="t" l="l"/>
              <a:pathLst>
                <a:path h="72149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721497"/>
                  </a:lnTo>
                  <a:lnTo>
                    <a:pt x="0" y="721497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816593" cy="769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446818" y="8630505"/>
            <a:ext cx="897167" cy="2183545"/>
            <a:chOff x="0" y="0"/>
            <a:chExt cx="236291" cy="575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2102576" y="4013079"/>
            <a:ext cx="4984890" cy="4114800"/>
          </a:xfrm>
          <a:custGeom>
            <a:avLst/>
            <a:gdLst/>
            <a:ahLst/>
            <a:cxnLst/>
            <a:rect r="r" b="b" t="t" l="l"/>
            <a:pathLst>
              <a:path h="4114800" w="4984890">
                <a:moveTo>
                  <a:pt x="0" y="0"/>
                </a:moveTo>
                <a:lnTo>
                  <a:pt x="4984890" y="0"/>
                </a:lnTo>
                <a:lnTo>
                  <a:pt x="49848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16824" y="954662"/>
            <a:ext cx="13886455" cy="1784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1"/>
              </a:lnSpc>
            </a:pPr>
            <a:r>
              <a:rPr lang="en-US" sz="51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 TO SURVEILLANCE</a:t>
            </a:r>
          </a:p>
          <a:p>
            <a:pPr algn="l">
              <a:lnSpc>
                <a:spcPts val="7151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01897" y="3915312"/>
            <a:ext cx="10638331" cy="2155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9197" indent="-434599" lvl="1">
              <a:lnSpc>
                <a:spcPts val="5636"/>
              </a:lnSpc>
              <a:buFont typeface="Arial"/>
              <a:buChar char="•"/>
            </a:pPr>
            <a:r>
              <a:rPr lang="en-US" sz="40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Monitoring activities for security and safety</a:t>
            </a:r>
          </a:p>
          <a:p>
            <a:pPr algn="l">
              <a:lnSpc>
                <a:spcPts val="5636"/>
              </a:lnSpc>
              <a:spcBef>
                <a:spcPct val="0"/>
              </a:spcBef>
            </a:pPr>
            <a:r>
              <a:rPr lang="en-US" sz="40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323491"/>
            <a:ext cx="10185867" cy="2869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9197" indent="-434599" lvl="1">
              <a:lnSpc>
                <a:spcPts val="5636"/>
              </a:lnSpc>
              <a:buFont typeface="Arial"/>
              <a:buChar char="•"/>
            </a:pPr>
            <a:r>
              <a:rPr lang="en-US" sz="40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Used in public and private sector</a:t>
            </a:r>
          </a:p>
          <a:p>
            <a:pPr algn="l" marL="869197" indent="-434599" lvl="1">
              <a:lnSpc>
                <a:spcPts val="5636"/>
              </a:lnSpc>
              <a:buFont typeface="Arial"/>
              <a:buChar char="•"/>
            </a:pPr>
            <a:r>
              <a:rPr lang="en-US" sz="402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Helps in crime prevention and evidence collection</a:t>
            </a:r>
          </a:p>
          <a:p>
            <a:pPr algn="l">
              <a:lnSpc>
                <a:spcPts val="563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12377" y="314874"/>
            <a:ext cx="13508215" cy="1691471"/>
            <a:chOff x="0" y="0"/>
            <a:chExt cx="3557719" cy="4454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57719" cy="445490"/>
            </a:xfrm>
            <a:custGeom>
              <a:avLst/>
              <a:gdLst/>
              <a:ahLst/>
              <a:cxnLst/>
              <a:rect r="r" b="b" t="t" l="l"/>
              <a:pathLst>
                <a:path h="445490" w="3557719">
                  <a:moveTo>
                    <a:pt x="0" y="0"/>
                  </a:moveTo>
                  <a:lnTo>
                    <a:pt x="3557719" y="0"/>
                  </a:lnTo>
                  <a:lnTo>
                    <a:pt x="3557719" y="445490"/>
                  </a:lnTo>
                  <a:lnTo>
                    <a:pt x="0" y="44549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557719" cy="493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970541" y="2006345"/>
            <a:ext cx="1601933" cy="6466659"/>
            <a:chOff x="0" y="0"/>
            <a:chExt cx="421908" cy="17031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1908" cy="1703153"/>
            </a:xfrm>
            <a:custGeom>
              <a:avLst/>
              <a:gdLst/>
              <a:ahLst/>
              <a:cxnLst/>
              <a:rect r="r" b="b" t="t" l="l"/>
              <a:pathLst>
                <a:path h="1703153" w="421908">
                  <a:moveTo>
                    <a:pt x="210954" y="0"/>
                  </a:moveTo>
                  <a:lnTo>
                    <a:pt x="210954" y="0"/>
                  </a:lnTo>
                  <a:cubicBezTo>
                    <a:pt x="266903" y="0"/>
                    <a:pt x="320560" y="22225"/>
                    <a:pt x="360121" y="61787"/>
                  </a:cubicBezTo>
                  <a:cubicBezTo>
                    <a:pt x="399683" y="101349"/>
                    <a:pt x="421908" y="155006"/>
                    <a:pt x="421908" y="210954"/>
                  </a:cubicBezTo>
                  <a:lnTo>
                    <a:pt x="421908" y="1492199"/>
                  </a:lnTo>
                  <a:cubicBezTo>
                    <a:pt x="421908" y="1548147"/>
                    <a:pt x="399683" y="1601804"/>
                    <a:pt x="360121" y="1641366"/>
                  </a:cubicBezTo>
                  <a:cubicBezTo>
                    <a:pt x="320560" y="1680928"/>
                    <a:pt x="266903" y="1703153"/>
                    <a:pt x="210954" y="1703153"/>
                  </a:cubicBezTo>
                  <a:lnTo>
                    <a:pt x="210954" y="1703153"/>
                  </a:lnTo>
                  <a:cubicBezTo>
                    <a:pt x="155006" y="1703153"/>
                    <a:pt x="101349" y="1680928"/>
                    <a:pt x="61787" y="1641366"/>
                  </a:cubicBezTo>
                  <a:cubicBezTo>
                    <a:pt x="22225" y="1601804"/>
                    <a:pt x="0" y="1548147"/>
                    <a:pt x="0" y="1492199"/>
                  </a:cubicBezTo>
                  <a:lnTo>
                    <a:pt x="0" y="210954"/>
                  </a:lnTo>
                  <a:cubicBezTo>
                    <a:pt x="0" y="155006"/>
                    <a:pt x="22225" y="101349"/>
                    <a:pt x="61787" y="61787"/>
                  </a:cubicBezTo>
                  <a:cubicBezTo>
                    <a:pt x="101349" y="22225"/>
                    <a:pt x="155006" y="0"/>
                    <a:pt x="210954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21908" cy="1750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826522" y="2151744"/>
            <a:ext cx="3489972" cy="3388445"/>
          </a:xfrm>
          <a:custGeom>
            <a:avLst/>
            <a:gdLst/>
            <a:ahLst/>
            <a:cxnLst/>
            <a:rect r="r" b="b" t="t" l="l"/>
            <a:pathLst>
              <a:path h="3388445" w="3489972">
                <a:moveTo>
                  <a:pt x="0" y="0"/>
                </a:moveTo>
                <a:lnTo>
                  <a:pt x="3489972" y="0"/>
                </a:lnTo>
                <a:lnTo>
                  <a:pt x="3489972" y="3388445"/>
                </a:lnTo>
                <a:lnTo>
                  <a:pt x="0" y="33884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958907" y="5540189"/>
            <a:ext cx="6701448" cy="3900452"/>
          </a:xfrm>
          <a:custGeom>
            <a:avLst/>
            <a:gdLst/>
            <a:ahLst/>
            <a:cxnLst/>
            <a:rect r="r" b="b" t="t" l="l"/>
            <a:pathLst>
              <a:path h="3900452" w="6701448">
                <a:moveTo>
                  <a:pt x="0" y="0"/>
                </a:moveTo>
                <a:lnTo>
                  <a:pt x="6701448" y="0"/>
                </a:lnTo>
                <a:lnTo>
                  <a:pt x="6701448" y="3900452"/>
                </a:lnTo>
                <a:lnTo>
                  <a:pt x="0" y="39004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05150" y="2358245"/>
            <a:ext cx="7753757" cy="2489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25843" indent="-512922" lvl="1">
              <a:lnSpc>
                <a:spcPts val="6652"/>
              </a:lnSpc>
              <a:buFont typeface="Arial"/>
              <a:buChar char="•"/>
            </a:pPr>
            <a:r>
              <a:rPr lang="en-US" sz="47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CCTV CAMERAS WITH MANUAL MONITORING</a:t>
            </a:r>
          </a:p>
          <a:p>
            <a:pPr algn="r">
              <a:lnSpc>
                <a:spcPts val="6652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634858" y="830015"/>
            <a:ext cx="11233190" cy="162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591"/>
              </a:lnSpc>
            </a:pPr>
            <a:r>
              <a:rPr lang="en-US" b="true" sz="4708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TRADITIONAL SYSTEM &amp; PROBLEMS</a:t>
            </a:r>
          </a:p>
          <a:p>
            <a:pPr algn="r">
              <a:lnSpc>
                <a:spcPts val="6591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712377" y="4123419"/>
            <a:ext cx="7138770" cy="5570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82665" indent="-491332" lvl="1">
              <a:lnSpc>
                <a:spcPts val="6372"/>
              </a:lnSpc>
              <a:buFont typeface="Arial"/>
              <a:buChar char="•"/>
            </a:pPr>
            <a:r>
              <a:rPr lang="en-US" sz="45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 automatic threat detection</a:t>
            </a:r>
          </a:p>
          <a:p>
            <a:pPr algn="l" marL="982665" indent="-491332" lvl="1">
              <a:lnSpc>
                <a:spcPts val="6372"/>
              </a:lnSpc>
              <a:buFont typeface="Arial"/>
              <a:buChar char="•"/>
            </a:pPr>
            <a:r>
              <a:rPr lang="en-US" sz="45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Human error and fatigue</a:t>
            </a:r>
          </a:p>
          <a:p>
            <a:pPr algn="l" marL="982665" indent="-491332" lvl="1">
              <a:lnSpc>
                <a:spcPts val="6372"/>
              </a:lnSpc>
              <a:buFont typeface="Arial"/>
              <a:buChar char="•"/>
            </a:pPr>
            <a:r>
              <a:rPr lang="en-US" sz="45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Reactive instead of proactive system</a:t>
            </a:r>
          </a:p>
          <a:p>
            <a:pPr algn="l">
              <a:lnSpc>
                <a:spcPts val="6372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385848"/>
            <a:ext cx="15475830" cy="2006600"/>
            <a:chOff x="0" y="0"/>
            <a:chExt cx="4075939" cy="5284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75939" cy="528487"/>
            </a:xfrm>
            <a:custGeom>
              <a:avLst/>
              <a:gdLst/>
              <a:ahLst/>
              <a:cxnLst/>
              <a:rect r="r" b="b" t="t" l="l"/>
              <a:pathLst>
                <a:path h="528487" w="4075939">
                  <a:moveTo>
                    <a:pt x="25513" y="0"/>
                  </a:moveTo>
                  <a:lnTo>
                    <a:pt x="4050426" y="0"/>
                  </a:lnTo>
                  <a:cubicBezTo>
                    <a:pt x="4057192" y="0"/>
                    <a:pt x="4063681" y="2688"/>
                    <a:pt x="4068466" y="7473"/>
                  </a:cubicBezTo>
                  <a:cubicBezTo>
                    <a:pt x="4073251" y="12257"/>
                    <a:pt x="4075939" y="18747"/>
                    <a:pt x="4075939" y="25513"/>
                  </a:cubicBezTo>
                  <a:lnTo>
                    <a:pt x="4075939" y="502974"/>
                  </a:lnTo>
                  <a:cubicBezTo>
                    <a:pt x="4075939" y="509741"/>
                    <a:pt x="4073251" y="516230"/>
                    <a:pt x="4068466" y="521015"/>
                  </a:cubicBezTo>
                  <a:cubicBezTo>
                    <a:pt x="4063681" y="525799"/>
                    <a:pt x="4057192" y="528487"/>
                    <a:pt x="4050426" y="528487"/>
                  </a:cubicBezTo>
                  <a:lnTo>
                    <a:pt x="25513" y="528487"/>
                  </a:lnTo>
                  <a:cubicBezTo>
                    <a:pt x="18747" y="528487"/>
                    <a:pt x="12257" y="525799"/>
                    <a:pt x="7473" y="521015"/>
                  </a:cubicBezTo>
                  <a:cubicBezTo>
                    <a:pt x="2688" y="516230"/>
                    <a:pt x="0" y="509741"/>
                    <a:pt x="0" y="502974"/>
                  </a:cubicBezTo>
                  <a:lnTo>
                    <a:pt x="0" y="25513"/>
                  </a:lnTo>
                  <a:cubicBezTo>
                    <a:pt x="0" y="18747"/>
                    <a:pt x="2688" y="12257"/>
                    <a:pt x="7473" y="7473"/>
                  </a:cubicBezTo>
                  <a:cubicBezTo>
                    <a:pt x="12257" y="2688"/>
                    <a:pt x="18747" y="0"/>
                    <a:pt x="25513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075939" cy="576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68100" y="3637146"/>
            <a:ext cx="760600" cy="713581"/>
          </a:xfrm>
          <a:custGeom>
            <a:avLst/>
            <a:gdLst/>
            <a:ahLst/>
            <a:cxnLst/>
            <a:rect r="r" b="b" t="t" l="l"/>
            <a:pathLst>
              <a:path h="713581" w="760600">
                <a:moveTo>
                  <a:pt x="0" y="0"/>
                </a:moveTo>
                <a:lnTo>
                  <a:pt x="760600" y="0"/>
                </a:lnTo>
                <a:lnTo>
                  <a:pt x="760600" y="713582"/>
                </a:lnTo>
                <a:lnTo>
                  <a:pt x="0" y="7135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8100" y="4634806"/>
            <a:ext cx="760600" cy="713581"/>
          </a:xfrm>
          <a:custGeom>
            <a:avLst/>
            <a:gdLst/>
            <a:ahLst/>
            <a:cxnLst/>
            <a:rect r="r" b="b" t="t" l="l"/>
            <a:pathLst>
              <a:path h="713581" w="760600">
                <a:moveTo>
                  <a:pt x="0" y="0"/>
                </a:moveTo>
                <a:lnTo>
                  <a:pt x="760600" y="0"/>
                </a:lnTo>
                <a:lnTo>
                  <a:pt x="760600" y="713582"/>
                </a:lnTo>
                <a:lnTo>
                  <a:pt x="0" y="7135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68100" y="5887252"/>
            <a:ext cx="760600" cy="713581"/>
          </a:xfrm>
          <a:custGeom>
            <a:avLst/>
            <a:gdLst/>
            <a:ahLst/>
            <a:cxnLst/>
            <a:rect r="r" b="b" t="t" l="l"/>
            <a:pathLst>
              <a:path h="713581" w="760600">
                <a:moveTo>
                  <a:pt x="0" y="0"/>
                </a:moveTo>
                <a:lnTo>
                  <a:pt x="760600" y="0"/>
                </a:lnTo>
                <a:lnTo>
                  <a:pt x="760600" y="713581"/>
                </a:lnTo>
                <a:lnTo>
                  <a:pt x="0" y="7135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68100" y="7021626"/>
            <a:ext cx="760600" cy="713581"/>
          </a:xfrm>
          <a:custGeom>
            <a:avLst/>
            <a:gdLst/>
            <a:ahLst/>
            <a:cxnLst/>
            <a:rect r="r" b="b" t="t" l="l"/>
            <a:pathLst>
              <a:path h="713581" w="760600">
                <a:moveTo>
                  <a:pt x="0" y="0"/>
                </a:moveTo>
                <a:lnTo>
                  <a:pt x="760600" y="0"/>
                </a:lnTo>
                <a:lnTo>
                  <a:pt x="760600" y="713581"/>
                </a:lnTo>
                <a:lnTo>
                  <a:pt x="0" y="7135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351121" y="2884881"/>
            <a:ext cx="9560129" cy="6373419"/>
          </a:xfrm>
          <a:custGeom>
            <a:avLst/>
            <a:gdLst/>
            <a:ahLst/>
            <a:cxnLst/>
            <a:rect r="r" b="b" t="t" l="l"/>
            <a:pathLst>
              <a:path h="6373419" w="9560129">
                <a:moveTo>
                  <a:pt x="0" y="0"/>
                </a:moveTo>
                <a:lnTo>
                  <a:pt x="9560128" y="0"/>
                </a:lnTo>
                <a:lnTo>
                  <a:pt x="9560128" y="6373419"/>
                </a:lnTo>
                <a:lnTo>
                  <a:pt x="0" y="63734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90004" y="923925"/>
            <a:ext cx="12598762" cy="1960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b="true" sz="5672">
                <a:solidFill>
                  <a:srgbClr val="F3F3F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IS SMART SURVEILLANCE?</a:t>
            </a:r>
          </a:p>
          <a:p>
            <a:pPr algn="ctr">
              <a:lnSpc>
                <a:spcPts val="794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269039" y="5029897"/>
            <a:ext cx="3263886" cy="96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b="true" sz="567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09989" y="5029897"/>
            <a:ext cx="3263886" cy="96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100K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25377" y="3541896"/>
            <a:ext cx="8415095" cy="1601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7"/>
              </a:lnSpc>
            </a:pPr>
            <a:r>
              <a:rPr lang="en-US" sz="33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Integration of CCTV + AI + IoT + Cloud</a:t>
            </a:r>
          </a:p>
          <a:p>
            <a:pPr algn="l">
              <a:lnSpc>
                <a:spcPts val="3387"/>
              </a:lnSpc>
            </a:pPr>
          </a:p>
          <a:p>
            <a:pPr algn="l">
              <a:lnSpc>
                <a:spcPts val="4647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325377" y="4714273"/>
            <a:ext cx="8415095" cy="1172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7"/>
              </a:lnSpc>
            </a:pPr>
            <a:r>
              <a:rPr lang="en-US" sz="33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Real-time video analytics</a:t>
            </a:r>
          </a:p>
          <a:p>
            <a:pPr algn="l">
              <a:lnSpc>
                <a:spcPts val="4647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325377" y="5792002"/>
            <a:ext cx="8415095" cy="1754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7"/>
              </a:lnSpc>
            </a:pPr>
            <a:r>
              <a:rPr lang="en-US" sz="33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Automated detection &amp; alerts</a:t>
            </a:r>
          </a:p>
          <a:p>
            <a:pPr algn="l">
              <a:lnSpc>
                <a:spcPts val="4647"/>
              </a:lnSpc>
            </a:pPr>
          </a:p>
          <a:p>
            <a:pPr algn="l">
              <a:lnSpc>
                <a:spcPts val="4647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325377" y="7034814"/>
            <a:ext cx="8415095" cy="591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47"/>
              </a:lnSpc>
              <a:spcBef>
                <a:spcPct val="0"/>
              </a:spcBef>
            </a:pPr>
            <a:r>
              <a:rPr lang="en-US" sz="33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Intelligent and predictive monitoring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1464735"/>
            <a:ext cx="8814632" cy="1297603"/>
            <a:chOff x="0" y="0"/>
            <a:chExt cx="2321549" cy="3417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21549" cy="341756"/>
            </a:xfrm>
            <a:custGeom>
              <a:avLst/>
              <a:gdLst/>
              <a:ahLst/>
              <a:cxnLst/>
              <a:rect r="r" b="b" t="t" l="l"/>
              <a:pathLst>
                <a:path h="341756" w="2321549">
                  <a:moveTo>
                    <a:pt x="0" y="0"/>
                  </a:moveTo>
                  <a:lnTo>
                    <a:pt x="2321549" y="0"/>
                  </a:lnTo>
                  <a:lnTo>
                    <a:pt x="2321549" y="341756"/>
                  </a:lnTo>
                  <a:lnTo>
                    <a:pt x="0" y="34175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321549" cy="3893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81273" y="1782005"/>
            <a:ext cx="7835760" cy="185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TECHNOLOGIES USED</a:t>
            </a:r>
          </a:p>
          <a:p>
            <a:pPr algn="l">
              <a:lnSpc>
                <a:spcPts val="743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81273" y="3330794"/>
            <a:ext cx="10752746" cy="5469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• AI &amp; Deep Learning</a:t>
            </a:r>
          </a:p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• Machine Learning Algo</a:t>
            </a:r>
          </a:p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• Computer Vision</a:t>
            </a:r>
          </a:p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• Edge &amp; Cloud Computing</a:t>
            </a:r>
          </a:p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• Big Data Analytics</a:t>
            </a:r>
          </a:p>
          <a:p>
            <a:pPr algn="l">
              <a:lnSpc>
                <a:spcPts val="7212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574425" y="2589917"/>
            <a:ext cx="5107165" cy="5107165"/>
          </a:xfrm>
          <a:custGeom>
            <a:avLst/>
            <a:gdLst/>
            <a:ahLst/>
            <a:cxnLst/>
            <a:rect r="r" b="b" t="t" l="l"/>
            <a:pathLst>
              <a:path h="5107165" w="5107165">
                <a:moveTo>
                  <a:pt x="0" y="0"/>
                </a:moveTo>
                <a:lnTo>
                  <a:pt x="5107165" y="0"/>
                </a:lnTo>
                <a:lnTo>
                  <a:pt x="5107165" y="5107166"/>
                </a:lnTo>
                <a:lnTo>
                  <a:pt x="0" y="51071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47932" y="1464735"/>
            <a:ext cx="8814632" cy="1297603"/>
            <a:chOff x="0" y="0"/>
            <a:chExt cx="2321549" cy="3417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21549" cy="341756"/>
            </a:xfrm>
            <a:custGeom>
              <a:avLst/>
              <a:gdLst/>
              <a:ahLst/>
              <a:cxnLst/>
              <a:rect r="r" b="b" t="t" l="l"/>
              <a:pathLst>
                <a:path h="341756" w="2321549">
                  <a:moveTo>
                    <a:pt x="0" y="0"/>
                  </a:moveTo>
                  <a:lnTo>
                    <a:pt x="2321549" y="0"/>
                  </a:lnTo>
                  <a:lnTo>
                    <a:pt x="2321549" y="341756"/>
                  </a:lnTo>
                  <a:lnTo>
                    <a:pt x="0" y="34175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321549" cy="3893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610366" y="5057246"/>
            <a:ext cx="12718382" cy="5842507"/>
          </a:xfrm>
          <a:custGeom>
            <a:avLst/>
            <a:gdLst/>
            <a:ahLst/>
            <a:cxnLst/>
            <a:rect r="r" b="b" t="t" l="l"/>
            <a:pathLst>
              <a:path h="5842507" w="12718382">
                <a:moveTo>
                  <a:pt x="0" y="0"/>
                </a:moveTo>
                <a:lnTo>
                  <a:pt x="12718382" y="0"/>
                </a:lnTo>
                <a:lnTo>
                  <a:pt x="12718382" y="5842506"/>
                </a:lnTo>
                <a:lnTo>
                  <a:pt x="0" y="58425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1734" y="1776397"/>
            <a:ext cx="8115300" cy="985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31"/>
              </a:lnSpc>
            </a:pPr>
            <a:r>
              <a:rPr lang="en-US" b="true" sz="58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APPLICATIONS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247932" y="3312365"/>
            <a:ext cx="11858527" cy="5125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92"/>
              </a:lnSpc>
            </a:pPr>
            <a:r>
              <a:rPr lang="en-US" sz="48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• Delhi Smart City Surveillance Network</a:t>
            </a:r>
          </a:p>
          <a:p>
            <a:pPr algn="l">
              <a:lnSpc>
                <a:spcPts val="6792"/>
              </a:lnSpc>
            </a:pPr>
            <a:r>
              <a:rPr lang="en-US" sz="48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• AI based monitoring at Delhi Airport </a:t>
            </a:r>
          </a:p>
          <a:p>
            <a:pPr algn="l">
              <a:lnSpc>
                <a:spcPts val="6792"/>
              </a:lnSpc>
            </a:pPr>
            <a:r>
              <a:rPr lang="en-US" sz="48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• Traffic AI cameras in major Indian cities</a:t>
            </a:r>
          </a:p>
          <a:p>
            <a:pPr algn="l">
              <a:lnSpc>
                <a:spcPts val="6792"/>
              </a:lnSpc>
            </a:pPr>
            <a:r>
              <a:rPr lang="en-US" sz="48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• Railway station surveillance systems</a:t>
            </a:r>
          </a:p>
          <a:p>
            <a:pPr algn="l">
              <a:lnSpc>
                <a:spcPts val="6792"/>
              </a:lnSpc>
            </a:pPr>
            <a:r>
              <a:rPr lang="en-US" sz="48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• Bank &amp; ATM monitoring</a:t>
            </a:r>
          </a:p>
          <a:p>
            <a:pPr algn="l">
              <a:lnSpc>
                <a:spcPts val="6792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29368" y="1464735"/>
            <a:ext cx="8814632" cy="1297603"/>
            <a:chOff x="0" y="0"/>
            <a:chExt cx="2321549" cy="3417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21549" cy="341756"/>
            </a:xfrm>
            <a:custGeom>
              <a:avLst/>
              <a:gdLst/>
              <a:ahLst/>
              <a:cxnLst/>
              <a:rect r="r" b="b" t="t" l="l"/>
              <a:pathLst>
                <a:path h="341756" w="2321549">
                  <a:moveTo>
                    <a:pt x="0" y="0"/>
                  </a:moveTo>
                  <a:lnTo>
                    <a:pt x="2321549" y="0"/>
                  </a:lnTo>
                  <a:lnTo>
                    <a:pt x="2321549" y="341756"/>
                  </a:lnTo>
                  <a:lnTo>
                    <a:pt x="0" y="34175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321549" cy="3893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79034" y="1782005"/>
            <a:ext cx="8115300" cy="185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ADVANTAGES</a:t>
            </a:r>
          </a:p>
          <a:p>
            <a:pPr algn="l">
              <a:lnSpc>
                <a:spcPts val="743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77512" y="3330794"/>
            <a:ext cx="10852185" cy="5469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• 24/7 Automated Monitoring</a:t>
            </a:r>
          </a:p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• Faster threat detection</a:t>
            </a:r>
          </a:p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• Reduced manpower cost</a:t>
            </a:r>
          </a:p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• High accuracy using AI</a:t>
            </a:r>
          </a:p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• Remote access &amp; cloud storage</a:t>
            </a:r>
          </a:p>
          <a:p>
            <a:pPr algn="l">
              <a:lnSpc>
                <a:spcPts val="7212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29368" y="1464735"/>
            <a:ext cx="8814632" cy="1297603"/>
            <a:chOff x="0" y="0"/>
            <a:chExt cx="2321549" cy="3417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21549" cy="341756"/>
            </a:xfrm>
            <a:custGeom>
              <a:avLst/>
              <a:gdLst/>
              <a:ahLst/>
              <a:cxnLst/>
              <a:rect r="r" b="b" t="t" l="l"/>
              <a:pathLst>
                <a:path h="341756" w="2321549">
                  <a:moveTo>
                    <a:pt x="0" y="0"/>
                  </a:moveTo>
                  <a:lnTo>
                    <a:pt x="2321549" y="0"/>
                  </a:lnTo>
                  <a:lnTo>
                    <a:pt x="2321549" y="341756"/>
                  </a:lnTo>
                  <a:lnTo>
                    <a:pt x="0" y="34175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321549" cy="3893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79034" y="1782005"/>
            <a:ext cx="8115300" cy="185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DISADVANTAGES</a:t>
            </a:r>
          </a:p>
          <a:p>
            <a:pPr algn="l">
              <a:lnSpc>
                <a:spcPts val="743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29368" y="3523596"/>
            <a:ext cx="10852185" cy="4555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• Privacy concerns</a:t>
            </a:r>
          </a:p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• High implementation cost</a:t>
            </a:r>
          </a:p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• Cybersecurity risks</a:t>
            </a:r>
          </a:p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• Ethical &amp; data misuse issues</a:t>
            </a:r>
          </a:p>
          <a:p>
            <a:pPr algn="l">
              <a:lnSpc>
                <a:spcPts val="7212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79034" y="1464735"/>
            <a:ext cx="8814632" cy="1297603"/>
            <a:chOff x="0" y="0"/>
            <a:chExt cx="2321549" cy="3417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21549" cy="341756"/>
            </a:xfrm>
            <a:custGeom>
              <a:avLst/>
              <a:gdLst/>
              <a:ahLst/>
              <a:cxnLst/>
              <a:rect r="r" b="b" t="t" l="l"/>
              <a:pathLst>
                <a:path h="341756" w="2321549">
                  <a:moveTo>
                    <a:pt x="0" y="0"/>
                  </a:moveTo>
                  <a:lnTo>
                    <a:pt x="2321549" y="0"/>
                  </a:lnTo>
                  <a:lnTo>
                    <a:pt x="2321549" y="341756"/>
                  </a:lnTo>
                  <a:lnTo>
                    <a:pt x="0" y="341756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321549" cy="3893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782005"/>
            <a:ext cx="7765634" cy="1855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</a:t>
            </a:r>
          </a:p>
          <a:p>
            <a:pPr algn="l">
              <a:lnSpc>
                <a:spcPts val="743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0" y="3274886"/>
            <a:ext cx="12699441" cy="5469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12201" indent="-556101" lvl="1">
              <a:lnSpc>
                <a:spcPts val="7212"/>
              </a:lnSpc>
              <a:buFont typeface="Arial"/>
              <a:buChar char="•"/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Smart surveillance is transforming modern security</a:t>
            </a:r>
          </a:p>
          <a:p>
            <a:pPr algn="l" marL="1112201" indent="-556101" lvl="1">
              <a:lnSpc>
                <a:spcPts val="7212"/>
              </a:lnSpc>
              <a:buFont typeface="Arial"/>
              <a:buChar char="•"/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AI enables proactive threat detection</a:t>
            </a:r>
          </a:p>
          <a:p>
            <a:pPr algn="l" marL="1112201" indent="-556101" lvl="1">
              <a:lnSpc>
                <a:spcPts val="7212"/>
              </a:lnSpc>
              <a:buFont typeface="Arial"/>
              <a:buChar char="•"/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Strong data protection laws required</a:t>
            </a:r>
          </a:p>
          <a:p>
            <a:pPr algn="l" marL="1112201" indent="-556101" lvl="1">
              <a:lnSpc>
                <a:spcPts val="7212"/>
              </a:lnSpc>
              <a:buFont typeface="Arial"/>
              <a:buChar char="•"/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Future-ready intelligent infrastructure</a:t>
            </a:r>
          </a:p>
          <a:p>
            <a:pPr algn="l">
              <a:lnSpc>
                <a:spcPts val="7212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702328" y="3334472"/>
            <a:ext cx="5245100" cy="1332778"/>
            <a:chOff x="0" y="0"/>
            <a:chExt cx="1381426" cy="3510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81426" cy="351020"/>
            </a:xfrm>
            <a:custGeom>
              <a:avLst/>
              <a:gdLst/>
              <a:ahLst/>
              <a:cxnLst/>
              <a:rect r="r" b="b" t="t" l="l"/>
              <a:pathLst>
                <a:path h="351020" w="1381426">
                  <a:moveTo>
                    <a:pt x="75277" y="0"/>
                  </a:moveTo>
                  <a:lnTo>
                    <a:pt x="1306148" y="0"/>
                  </a:lnTo>
                  <a:cubicBezTo>
                    <a:pt x="1326113" y="0"/>
                    <a:pt x="1345260" y="7931"/>
                    <a:pt x="1359377" y="22048"/>
                  </a:cubicBezTo>
                  <a:cubicBezTo>
                    <a:pt x="1373495" y="36166"/>
                    <a:pt x="1381426" y="55313"/>
                    <a:pt x="1381426" y="75277"/>
                  </a:cubicBezTo>
                  <a:lnTo>
                    <a:pt x="1381426" y="275742"/>
                  </a:lnTo>
                  <a:cubicBezTo>
                    <a:pt x="1381426" y="295707"/>
                    <a:pt x="1373495" y="314854"/>
                    <a:pt x="1359377" y="328971"/>
                  </a:cubicBezTo>
                  <a:cubicBezTo>
                    <a:pt x="1345260" y="343089"/>
                    <a:pt x="1326113" y="351020"/>
                    <a:pt x="1306148" y="351020"/>
                  </a:cubicBezTo>
                  <a:lnTo>
                    <a:pt x="75277" y="351020"/>
                  </a:lnTo>
                  <a:cubicBezTo>
                    <a:pt x="55313" y="351020"/>
                    <a:pt x="36166" y="343089"/>
                    <a:pt x="22048" y="328971"/>
                  </a:cubicBezTo>
                  <a:cubicBezTo>
                    <a:pt x="7931" y="314854"/>
                    <a:pt x="0" y="295707"/>
                    <a:pt x="0" y="275742"/>
                  </a:cubicBezTo>
                  <a:lnTo>
                    <a:pt x="0" y="75277"/>
                  </a:lnTo>
                  <a:cubicBezTo>
                    <a:pt x="0" y="55313"/>
                    <a:pt x="7931" y="36166"/>
                    <a:pt x="22048" y="22048"/>
                  </a:cubicBezTo>
                  <a:cubicBezTo>
                    <a:pt x="36166" y="7931"/>
                    <a:pt x="55313" y="0"/>
                    <a:pt x="7527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381426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745228" y="3580317"/>
            <a:ext cx="5118100" cy="1332778"/>
            <a:chOff x="0" y="0"/>
            <a:chExt cx="1347977" cy="3510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47977" cy="351020"/>
            </a:xfrm>
            <a:custGeom>
              <a:avLst/>
              <a:gdLst/>
              <a:ahLst/>
              <a:cxnLst/>
              <a:rect r="r" b="b" t="t" l="l"/>
              <a:pathLst>
                <a:path h="351020" w="1347977">
                  <a:moveTo>
                    <a:pt x="77145" y="0"/>
                  </a:moveTo>
                  <a:lnTo>
                    <a:pt x="1270832" y="0"/>
                  </a:lnTo>
                  <a:cubicBezTo>
                    <a:pt x="1291292" y="0"/>
                    <a:pt x="1310914" y="8128"/>
                    <a:pt x="1325382" y="22595"/>
                  </a:cubicBezTo>
                  <a:cubicBezTo>
                    <a:pt x="1339849" y="37063"/>
                    <a:pt x="1347977" y="56685"/>
                    <a:pt x="1347977" y="77145"/>
                  </a:cubicBezTo>
                  <a:lnTo>
                    <a:pt x="1347977" y="273874"/>
                  </a:lnTo>
                  <a:cubicBezTo>
                    <a:pt x="1347977" y="316480"/>
                    <a:pt x="1313438" y="351020"/>
                    <a:pt x="1270832" y="351020"/>
                  </a:cubicBezTo>
                  <a:lnTo>
                    <a:pt x="77145" y="351020"/>
                  </a:lnTo>
                  <a:cubicBezTo>
                    <a:pt x="34539" y="351020"/>
                    <a:pt x="0" y="316480"/>
                    <a:pt x="0" y="273874"/>
                  </a:cubicBezTo>
                  <a:lnTo>
                    <a:pt x="0" y="77145"/>
                  </a:lnTo>
                  <a:cubicBezTo>
                    <a:pt x="0" y="34539"/>
                    <a:pt x="34539" y="0"/>
                    <a:pt x="7714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347977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933297" y="3647714"/>
            <a:ext cx="8421405" cy="1265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34"/>
              </a:lnSpc>
            </a:pPr>
            <a:r>
              <a:rPr lang="en-US" b="true" sz="738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DAHCC4R7O_Q</dc:identifier>
  <dcterms:modified xsi:type="dcterms:W3CDTF">2011-08-01T06:04:30Z</dcterms:modified>
  <cp:revision>1</cp:revision>
  <dc:title>SMART SURVEILLANCE SYSTEMS</dc:title>
</cp:coreProperties>
</file>